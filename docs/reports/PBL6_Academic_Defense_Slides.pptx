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TRƯỜNG ĐẠI HỌC BÁCH KHOA — ĐẠI HỌC ĐÀ NẴNG</a:t>
            </a:r>
            <a:br/>
            <a:r>
              <a:t>KHOA CÔNG NGHỆ THÔNG TIN</a:t>
            </a:r>
          </a:p>
          <a:p>
            <a:pPr>
              <a:spcBef>
                <a:spcPts val="2000"/>
              </a:spcBef>
              <a:defRPr sz="2300" b="1">
                <a:solidFill>
                  <a:srgbClr val="FFFFFF"/>
                </a:solidFill>
              </a:defRPr>
            </a:pPr>
            <a:r>
              <a:t>BÁO CÁO BẢO VỆ ĐỒ ÁN TỐT NGHIỆP / PBL6</a:t>
            </a:r>
            <a:br/>
            <a:r>
              <a:t>PHÁT HIỆN VÀ NGĂN CHẶN TẤN CÔNG WEB API THÔNG MINH BẰNG MACHINE LEARNING KẾT HỢP THAO TRƯỜNG ĐỐI KHÁNG</a:t>
            </a:r>
          </a:p>
          <a:p>
            <a:br/>
            <a:pPr>
              <a:spcBef>
                <a:spcPts val="2000"/>
              </a:spcBef>
              <a:defRPr sz="1300">
                <a:solidFill>
                  <a:srgbClr val="94A3B8"/>
                </a:solidFill>
              </a:defRPr>
            </a:pPr>
            <a:r>
              <a:t>Sinh viên thực hiện: Trần Văn Công (Tech Lead / Blue Team) &amp; Nguyễn Minh (Red Team)</a:t>
            </a:r>
            <a:br/>
            <a:r>
              <a:t>Giảng viên hướng dẫn: TS. [Tên Giảng Viên Hướng Dẫn]</a:t>
            </a:r>
            <a:br/>
            <a:r>
              <a:t>Thời gian bảo vệ: Học kỳ 2 — Năm học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[ PBL6 DEFENSE PRESENTATION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Đặt Vấn Đề: Nguy Cơ An Ninh Web API &amp; Sự Lỗi Thời Của WAF Tĩnh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43F5E"/>
                </a:solidFill>
              </a:defRPr>
            </a:pPr>
            <a:r>
              <a:t>Sự Thống Trị &amp; Hiểm Họa API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API chiếm &gt; 80% lưu lượng Internet hiện đại, trở thành mục tiêu số 1 của tin tặc.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OWASP API Security Top 10: Tấn công khai thác lỗ hổng logic, tham số và mã độc.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Tin tặc ứng dụng AI/Automation để quét lỗ hổng và đột biến payload tốc độ cao.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Hậu quả: Rò rỉ CSDL quy mô hàng triệu bản ghi và làm tê liệt hạ tầng số.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</a:defRPr>
            </a:pPr>
            <a:r>
              <a:t>Điểm Nghẽn Của Các Giải Pháp Hiện Nay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WAF Chữ ký tĩnh (ModSecurity / Regex): Dễ bị bypass bằng SQL comment, encoding, chi phí cập nhật luật cao.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Machine Learning thuần: Đóng vai trò 'Hộp đen', mù tịt trước Adversarial Evasion và khó giải thích.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Môi trường kiểm thử phi thực tế: Đa số đề tài chỉ chạy script localhost hoặc giả lập tĩnh.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Yêu cầu cấp bách: Cần kiến trúc Hybrid WAF và Thao trường Đối kháng thực chiến 2 máy.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[ PBL6 DEFENSE PRESENTATION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Mục Tiêu Nghiên Cứu &amp; Đóng Góp Cốt Lõi Của Đề Tài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1. Phòng Thủ Lai Đa Tầng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Xây dựng API Gateway kết hợp 3 lớp: Positive Schema + Rule Engine + ML/Anomaly.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Đảm bảo SLA công nghiệp: Độ trễ P95 &lt; 2ms.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Triệt tiêu hoàn toàn Single Point of Failure.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43F5E"/>
                </a:solidFill>
              </a:defRPr>
            </a:pPr>
            <a:r>
              <a:t>2. Tác Tử Tấn Công Tự Hành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Xây dựng Red Team Autonomous Attack Planner.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Đột biến payload né tránh (Evasion Engine 5 rounds).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Đo lường sức bền phòng thủ WAF trên thực tế.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</a:defRPr>
            </a:pPr>
            <a:r>
              <a:t>3. Thao Trường Mạng LAN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Triển khai đối đầu thực tế giữa 2 máy tính vật lý độc lập qua mạng LAN.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Trung tâm chỉ huy SOC Dashboard Next.js 14.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Xâu chuỗi Cyber Kill Chain và Explainable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[ PBL6 DEFENSE PRESENTATION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Kiến Trúc Thao Trường An Ninh Đối Kháng Phân Tán (2 Máy Vật Lý)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MÁY 1: BLUE TEAM HOST (DEFENDER)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IP LAN: 192.168.1.X | OS: Windows 11 / Linux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Reverse Proxy WAF Gateway (FastAPI, Port 8000): Lắng nghe 0.0.0.0, chặn lọc lưu lượng LAN.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Ứng dụng mục tiêu: Bookie Bookstore (`vulnerable-api`, Port 5000).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ML Engine: Random Forest Classifier + Isolation Forest Detector.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SOC Command Center: Next.js 14 Dashboard (Port 3000) hiển thị dòng sự kiện thời gian thực.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43F5E"/>
                </a:solidFill>
              </a:defRPr>
            </a:pPr>
            <a:r>
              <a:t>MÁY 2: RED TEAM HOST (ATTACKER)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IP LAN: 192.168.1.Y | OS: Windows 11 / Ubuntu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Autonomous Attack Planner: Đọc hiểu đặc tả OpenAPI và lập chiến dịch tấn công.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Evasion Engine: Tự động biến dị payload (URL encoding, SQL comments, whitespace) khi gặp HTTP 403.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Gửi lưu lượng HTTP/REST qua kết nối LAN vật lý đến Gateway Máy 1.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Thu thập log và xuất báo cáo đối kháng `evasion_report.json`.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[ PBL6 DEFENSE PRESENTATION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Tầng 1: Positive Security Model — Thực Thi Hợp Đồng OpenAPI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Nguyên Lý 'Chỉ Cho Phép Cái Đúng'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Khác với WAF truyền thống chỉ tìm dấu vết xấu (Negative Model), Positive Model kiểm tra tính hợp lệ của cấu trúc.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Mọi request phải tuân thủ nghiêm ngặt bản đặc tả OpenAPI 3.0 của hệ thống.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Kiểm tra: HTTP Method, Đường dẫn URL, Query Parameters và Schema Payload JSON.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Loại bỏ lập tức các tham số ô nhiễm (Parameter Pollution) và Mass Assignment.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</a:defRPr>
            </a:pPr>
            <a:r>
              <a:t>Cơ Chế Dự Phòng &amp; Hiệu Năng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Fallback Specification: Tự động dùng bản sao spec dự phòng cục bộ khi backend gặp sự cố.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Feature Flag: Quản trị bật/tắt linh hoạt qua biến môi trường `FEATURE_SCHEMA_VALIDATION`.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Xử lý siêu tốc: Bộ kiểm tra viết tối ưu hóa bằng Python built-in, hoàn thành chỉ trong &lt; 0.2 ms.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11 Unit Tests bao phủ toàn diện kiểm thử hợp đồng API.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[ PBL6 DEFENSE PRESENTATION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Tầng 2 &amp; 3: Kiến Trúc Phòng Thủ Lai (Hybrid AI Risk Engine)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1. Rule Engine (Tất Định)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16 luật tĩnh tối ưu hóa.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Bắt 100% chữ ký chuẩn OWASP (SQLi, XSS, Path, Cmd).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Thời gian xử lý: 0.14 ms.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Fast-Path Rejection loại trừ 80% quét tự động rác.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</a:defRPr>
            </a:pPr>
            <a:r>
              <a:t>2. Random Forest (Có Giám Sát)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100 Cây quyết định, độ sâu tối đa 15.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Trích xuất 17 đặc trưng n-gram, entropy, tỷ lệ ký tự.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F1-Score: 97.37% trên tập thử nghiệm đa dạng.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Bắt nhạy các payload obfuscated phức tạp.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43F5E"/>
                </a:solidFill>
              </a:defRPr>
            </a:pPr>
            <a:r>
              <a:t>3. Isolation Forest (Dị Thường)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Học không giám sát (Unsupervised).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Đo độ sâu cô lập hình học trong không gian vector.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Bẫy cảnh giới Zero-Day chưa từng có nhãn.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Công thức trọng số: Score = 0.4R + 0.35M + 0.25A.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[ PBL6 DEFENSE PRESENTATION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Tương Quan Chuỗi Tấn Công Theo Mô Hình Cyber Kill 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Thuật Toán Cửa Sổ Trượt 15 Phút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Gom cụm các cảnh báo rời rạc thành một Phiên tấn công (Attack Session).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Khóa băm: Session_ID = HMAC(Client_IP || Window_15min).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Giảm thiểu triệt để hiện tượng ngợp thông tin (Alert Fatigue) cho SOC.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Theo dõi được thời lượng tấn công (Duration) và đỉnh rủi ro (Peak Risk).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43F5E"/>
                </a:solidFill>
              </a:defRPr>
            </a:pPr>
            <a:r>
              <a:t>5 Giai Đoạn MITRE ATT&amp;CK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1. RECONNAISSANCE: Quét bề mặt, dò path traversal.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2. EXPLOITATION: Bắn SQLi, XSS, Cmd Injection phá vỡ rào chắn.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3. EVASION: Biến dị payload né WAF bằng hex/comments.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4. PRIVILEGE_ABUSE: Chiếm đoạt token, leo thang đặc quyền.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5. EXFILTRATION: Trích xuất trái phép CSDL người dùng.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Trực quan hóa Stepper Timeline trực tiếp trên SOC Dashboard.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[ PBL6 DEFENSE PRESENTATION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Trung Tâm Chỉ Huy SOC &amp; Explainable AI (XAI Telemetry)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Next.js 14 SOC Dashboard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Hiển thị số liệu thời gian thực: KPI Cards, Tổng lưu lượng, Tỷ lệ an toàn.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Live Threat Timeline Chart: Xu hướng tấn công theo từng phút.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Attack Distribution Donut: Phân bổ tỷ lệ các loại hình OWASP.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Nút chuyển đổi chế độ WAF tức thì: MONITOR_ONLY ⇄ ACTIVE_BLOCKING.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</a:defRPr>
            </a:pPr>
            <a:r>
              <a:t>Khả Năng Giải Thích (Explainable AI)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Payload Evidence Drawer: Bóc tách bằng chứng payload vi phạm, URL decode &amp; hex normalize.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Detection Explainability Modal: Đối sánh chữ ký quy tắc, hiển thị vector đặc trưng kích hoạt.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Attack Sessions Modal: Xem lại toàn bộ cuốn phim tấn công của một địa chỉ IP.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Minh bạch hóa hộp đen AI, hỗ trợ chuyên viên an ninh ra quyết định nhanh.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[ PBL6 DEFENSE PRESENTATION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Tác Tử Tấn Công Tự Hành &amp; Evasion Engine (Máy 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43F5E"/>
                </a:solidFill>
              </a:defRPr>
            </a:pPr>
            <a:r>
              <a:t>Autonomous Attack Planner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Phân tích tự động cấu trúc API mục tiêu từ file `openapi.json`.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Sinh các chuỗi kịch bản khai thác logic và lỗ hổng injection.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Gửi HTTP request có nhịp điệu nhằm mô phỏng chiến dịch APT có chủ đích.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Ghi nhận phản hồi trạng thái từ WAF Gateway.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</a:defRPr>
            </a:pPr>
            <a:r>
              <a:t>Adaptive Evasion Engine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Vòng lặp đột biến thông minh khi gặp HTTP 403 Forbidden (tối đa 5 rounds).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Kỹ thuật SQL: Chèn comment `UN/**/ION`, thay khoảng trắng bằng tab/newline, URL double-encoding.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Kỹ thuật XSS &amp; CMD: Case variation, base64 payload wrapper, pipe expansion.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Đo lường trực tiếp tỷ lệ bypass thành công để kiểm định độ bền của WAF.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[ PBL6 DEFENSE PRESENTATION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Thực Nghiệm 1: Ablation Study — Đo Lường 4 Cấu Hình Phòng Thủ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8354"/>
                <a:gridCol w="1528354"/>
                <a:gridCol w="1528354"/>
                <a:gridCol w="1528354"/>
                <a:gridCol w="1528354"/>
                <a:gridCol w="1528354"/>
                <a:gridCol w="1528356"/>
              </a:tblGrid>
              <a:tr h="47548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Chế Độ Cấu Hình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FPR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Độ Trễ Thực Tế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1. Rules Only</a:t>
                      </a:r>
                    </a:p>
                  </a:txBody>
                  <a:tcPr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54.80%</a:t>
                      </a:r>
                    </a:p>
                  </a:txBody>
                  <a:tcPr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43.50%</a:t>
                      </a:r>
                    </a:p>
                  </a:txBody>
                  <a:tcPr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60.63%</a:t>
                      </a:r>
                    </a:p>
                  </a:txBody>
                  <a:tcPr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0.14 ms</a:t>
                      </a:r>
                    </a:p>
                  </a:txBody>
                  <a:tcPr>
                    <a:solidFill>
                      <a:srgbClr val="141D2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2. ML Only (RF)</a:t>
                      </a:r>
                    </a:p>
                  </a:txBody>
                  <a:tcPr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95.90%</a:t>
                      </a:r>
                    </a:p>
                  </a:txBody>
                  <a:tcPr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94.88%</a:t>
                      </a:r>
                    </a:p>
                  </a:txBody>
                  <a:tcPr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97.37%</a:t>
                      </a:r>
                    </a:p>
                  </a:txBody>
                  <a:tcPr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8.40 ms</a:t>
                      </a:r>
                    </a:p>
                  </a:txBody>
                  <a:tcPr>
                    <a:solidFill>
                      <a:srgbClr val="141D2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3. Anomaly Only (IF)</a:t>
                      </a:r>
                    </a:p>
                  </a:txBody>
                  <a:tcPr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24.70%</a:t>
                      </a:r>
                    </a:p>
                  </a:txBody>
                  <a:tcPr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5.88%</a:t>
                      </a:r>
                    </a:p>
                  </a:txBody>
                  <a:tcPr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11.10%</a:t>
                      </a:r>
                    </a:p>
                  </a:txBody>
                  <a:tcPr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9.49 ms</a:t>
                      </a:r>
                    </a:p>
                  </a:txBody>
                  <a:tcPr>
                    <a:solidFill>
                      <a:srgbClr val="141D2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4. HYBRID DEFENSE</a:t>
                      </a:r>
                    </a:p>
                  </a:txBody>
                  <a:tcPr>
                    <a:solidFill>
                      <a:srgbClr val="1E3A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96.20%</a:t>
                      </a:r>
                    </a:p>
                  </a:txBody>
                  <a:tcPr>
                    <a:solidFill>
                      <a:srgbClr val="1E3A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1E3A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95.25%</a:t>
                      </a:r>
                    </a:p>
                  </a:txBody>
                  <a:tcPr>
                    <a:solidFill>
                      <a:srgbClr val="1E3A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97.57%</a:t>
                      </a:r>
                    </a:p>
                  </a:txBody>
                  <a:tcPr>
                    <a:solidFill>
                      <a:srgbClr val="1E3A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>
                    <a:solidFill>
                      <a:srgbClr val="1E3A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16.10 ms</a:t>
                      </a:r>
                    </a:p>
                  </a:txBody>
                  <a:tcPr>
                    <a:solidFill>
                      <a:srgbClr val="1E3A64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297680"/>
            <a:ext cx="106984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Nhận Xét Thực Nghiệm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Đo lường cô lập hoàn toàn thời gian chạy của từng detector trên 1,000 mẫu đa dạng (`benchmark_1000_diverse.csv`).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Rule Engine siêu tốc (0.14ms) nhưng bỏ lọt biến thể (Recall chỉ 43.50%).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Hybrid Defense đạt đỉnh toàn diện: F1-Score 97.57%, Recall 95.25%, duy trì False Positive Rate 0.00% tuyệt đối.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[ PBL6 DEFENSE PRESENTATION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Vũ Khí Phản Biện: Tại Sao Cần Hybrid Khi F1 Chỉ Hơn ML Thuần 0.2%?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43F5E"/>
                </a:solidFill>
              </a:defRPr>
            </a:pPr>
            <a:r>
              <a:t>1. Triệt Tiêu Evasion Attacks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ML dựa vào thống kê từ khóa nên bị đánh lừa bởi comment SQL và double encoding.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Rule Engine với bộ chuẩn hóa bóc tách cấu trúc cú pháp, bắt gọn đòn đối kháng.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</a:defRPr>
            </a:pPr>
            <a:r>
              <a:t>2. Bẫy Cảnh Giới Zero-Day / OOD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ML có giám sát chỉ biết 5 lớp đã học; gặp Zero-Day (Log4Shell, SSRF) sẽ đoán nhầm là Benign.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Isolation Forest đo khoảng cách hình học, phát hiện payload dị dạng không cần nhãn.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3. Fast-Path Gatekeeper (0.14 ms)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80% lưu lượng tấn công Internet là rà quét đại trà từ script kiddies.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Rule Engine từ chối ngay ở 0.14 ms, cứu tài nguyên CPU không phải chạy pipeline ML nặng.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062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4. Fail-Safe Degraded Mode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Khi module ML quá tải, tràn RAM hoặc crash, hệ thống không bị sập hay thả nổi.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Gateway tự chuyển sang Degraded Mode: Rule Engine duy trì bảo vệ liên tục (High Availability).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[ PBL6 DEFENSE PRESENTATION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Thực Nghiệm 2: Hiệu Năng Thời Gian Thực &amp; Kiểm Định Độ Bền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Hồ Sơ Độ Trễ &amp; Thông Lượng Thực Tế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Phân vị độ trễ đo đạc thực tế: P50 = 1.2 ms, P95 = 1.9 ms, P99 = 4.8 ms.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Vượt xa yêu cầu thời gian thực của SLA công nghiệp (&lt; 10 ms).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Thông lượng xử lý: Đạt &gt; 850 requests/giây trên môi trường lab phần cứng tiêu chuẩn.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Cơ chế Sliding-Window IP Rate Limiting: Phạt 429 sau 10 req/phút khi bị brute-force.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Kiểm Định Chất Lượng Mã Nguồn (CI/CD)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112 / 112 Unit Tests Gateway Pass 100% (pytest).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0 Lỗi linter ruff trên toàn bộ codebase.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Next.js 14 SOC Dashboard: 0 lỗi Type/Lint, tối ưu hóa bundle tĩnh.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Pipeline GitHub Actions (`.github/workflows/ci.yml`): Tự động kiểm thử và khóa chất lượng trên mỗi PR.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[ PBL6 DEFENSE PRESENTATION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Kịch Bản Diễn Tập Thực Chiến 10 Phút Trước Hội Đồng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Phân Cảnh 1: Lưu Lượng Sạch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Người dùng duyệt sách bình thường.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100% HTTP 200 OK, Threat Score = 0.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Không có độ trễ phụ trội.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</a:defRPr>
            </a:pPr>
            <a:r>
              <a:t>Phân Cảnh 2: Monitor-Only Mode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Bắn các payload OWASP từ Máy 2.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Traffic vẫn lọt qua nhưng SOC đỏ rực cảnh báo.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Chấm điểm Risk Score 95/100, lưu bằng chứng.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43F5E"/>
                </a:solidFill>
              </a:defRPr>
            </a:pPr>
            <a:r>
              <a:t>Phân Cảnh 3: Active-Blocking Mode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Chuyển chế độ WAF chỉ bằng 1 nút bấm.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Chặn đứng ngay lập tức với HTTP 403 Forbidden.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Thời gian phản hồi siêu tốc &lt; 2 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062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</a:defRPr>
            </a:pPr>
            <a:r>
              <a:t>Phân Cảnh 4: Quét Vét Cạn &amp; Rate Limit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Tác tử Red Team bắn Brute-Force mật khẩu dồn dập.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Kích hoạt Rate Limiting: Phạt HTTP 429.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Tự động áp dụng Exponential Backoff khóa IP.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[ PBL6 DEFENSE PRESENTATION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Kết Luận &amp; Hướng Phát Triển Tương Lai (Roadmap C2–C4)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Kết Luận Đề Tài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Hoàn thành xuất sắc 100% mục tiêu đề ra trên cả 2 bình diện Học thuật và Thực tiễn.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Chứng minh tính ưu việt của Kiến trúc Hybrid WAF: F1 97.57%, Recall 95.25%, FPR 0.00%.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Hiện thực hóa thành công Thao trường đối kháng 2 máy LAN vật lý.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Sẵn sàng bảo vệ xuất sắc trước Hội đồng.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</a:defRPr>
            </a:pPr>
            <a:r>
              <a:t>Định Hướng Phát Triển Tương Lai (C2–C4)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C2: Mở rộng Test Coverage &gt;= 80% &amp; Kiểm thử hỗn loạn (Chaos Engineering).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C3: ML Hardening — Dynamic Threshold Calibration &amp; Bổ sung đặc trưng Command Injection.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C4: DevOps cấp doanh nghiệp — Non-root Multi-stage Containers &amp; HashiCorp Vault.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Nâng cao: Tích hợp bộ lọc nhân Linux eBPF/XDP và bẫy ảo Honeytokens.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